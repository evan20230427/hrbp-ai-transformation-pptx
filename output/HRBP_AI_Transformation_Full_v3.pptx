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8" d="100"/>
          <a:sy n="98" d="100"/>
        </p:scale>
        <p:origin x="36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485504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L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8463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Gartner | Redesigning HRBP to Fuel AI Transformation</a:t>
            </a:r>
            <a:endParaRPr lang="en-US" sz="1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645920"/>
            <a:ext cx="9144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重塑 HRBP 角色：</a:t>
            </a:r>
            <a:endParaRPr lang="en-US" sz="4400" dirty="0"/>
          </a:p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引領企業 AI 轉型的策略實務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0" y="283464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Overstretched Administrator to AI Transformation Consultant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現狀挑戰：HRBP 的策略鴻溝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18288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" name="Text 2"/>
          <p:cNvSpPr/>
          <p:nvPr/>
        </p:nvSpPr>
        <p:spPr>
          <a:xfrm>
            <a:off x="516863" y="1349194"/>
            <a:ext cx="8229600" cy="29515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2000" b="1" dirty="0">
                <a:solidFill>
                  <a:srgbClr val="2563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關鍵數據：只有 51% 的領導者認為其 HRBP 參與了重要的策略討論。
</a:t>
            </a:r>
            <a:r>
              <a:rPr lang="en-US" sz="2000" dirty="0" err="1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困境：HRBP</a:t>
            </a:r>
            <a:r>
              <a:rPr lang="en-US" sz="2000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仍被鎖定在「事務性工作」中</a:t>
            </a:r>
            <a:r>
              <a:rPr lang="en-US" sz="2000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。</a:t>
            </a:r>
            <a:endParaRPr lang="en-US" sz="20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風險：AI 正在吸收 HRBP </a:t>
            </a:r>
            <a:r>
              <a:rPr lang="en-US" sz="2000" dirty="0" err="1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的傳統任務（如職務說明、數據摘要、問答</a:t>
            </a:r>
            <a:r>
              <a:rPr lang="en-US" sz="2000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）。</a:t>
            </a:r>
            <a:endParaRPr lang="en-US" sz="20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核心問題：如果 HRBP 的角色不變，他們將面臨日益嚴重的「未充分利用」風險。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新身份：AI 轉型顧問 (STL)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18288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" name="Text 2"/>
          <p:cNvSpPr/>
          <p:nvPr/>
        </p:nvSpPr>
        <p:spPr>
          <a:xfrm>
            <a:off x="640080" y="11887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未來的 HRBP 應該被定義為「策略人才領袖 (Strategic Talent Leaders)」。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1645920"/>
            <a:ext cx="7772400" cy="228600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6" name="Text 4"/>
          <p:cNvSpPr/>
          <p:nvPr/>
        </p:nvSpPr>
        <p:spPr>
          <a:xfrm>
            <a:off x="914400" y="192024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隨著 AI 重塑價值鏈，HRBP 的職權擴展為直接引導人工智慧驅動轉型的人員面向。</a:t>
            </a:r>
            <a:endParaRPr lang="en-US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5664" y="73995"/>
            <a:ext cx="10596663" cy="7846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STL 核心職責：1. 引導人力重新設計 </a:t>
            </a:r>
            <a:r>
              <a:rPr lang="en-US" sz="20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(Workforce Redesign)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18288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137160" cy="914400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隨著 AI 改變職務，決定何時進行技能再培訓、重新部署或逐步淘汰職位。</a:t>
            </a:r>
            <a:endParaRPr lang="en-US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2919" y="243905"/>
            <a:ext cx="938394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STL 核心職責：2. 解決 AI 倫理與偏見 </a:t>
            </a:r>
            <a:r>
              <a:rPr lang="en-US" sz="20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(AI Bias &amp; Ethics)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18288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137160" cy="914400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解決 AI 驅動的人才決策中的偏見與倫理挑戰，確保決策透明度。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42543"/>
            <a:ext cx="893323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STL 核心職責：3. 塑造人機協作 </a:t>
            </a:r>
            <a:r>
              <a:rPr lang="en-US" sz="20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(Human-Machine Collab)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18288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137160" cy="914400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確保生產力提升不會以犧牲員工參與度為代價，優化人類與機器的動態協作。</a:t>
            </a:r>
            <a:endParaRPr lang="en-US"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調整任務：轉型三階段路徑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18288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" name="Shape 2"/>
          <p:cNvSpPr/>
          <p:nvPr/>
        </p:nvSpPr>
        <p:spPr>
          <a:xfrm>
            <a:off x="457200" y="1828800"/>
            <a:ext cx="2560320" cy="1371600"/>
          </a:xfrm>
          <a:prstGeom prst="roundRect">
            <a:avLst>
              <a:gd name="adj" fmla="val 6667"/>
            </a:avLst>
          </a:prstGeom>
          <a:solidFill>
            <a:srgbClr val="0F172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25603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階段 1: 剔除舊有工作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291840" y="1828800"/>
            <a:ext cx="2560320" cy="1371600"/>
          </a:xfrm>
          <a:prstGeom prst="roundRect">
            <a:avLst>
              <a:gd name="adj" fmla="val 6667"/>
            </a:avLst>
          </a:prstGeom>
          <a:solidFill>
            <a:srgbClr val="0F172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/>
          <p:nvPr/>
        </p:nvSpPr>
        <p:spPr>
          <a:xfrm>
            <a:off x="3291840" y="1828800"/>
            <a:ext cx="25603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階段 2: 透過 AI 強化核心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6126480" y="1828800"/>
            <a:ext cx="2560320" cy="1371600"/>
          </a:xfrm>
          <a:prstGeom prst="roundRect">
            <a:avLst>
              <a:gd name="adj" fmla="val 6667"/>
            </a:avLst>
          </a:prstGeom>
          <a:solidFill>
            <a:srgbClr val="0F172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9" name="Text 7"/>
          <p:cNvSpPr/>
          <p:nvPr/>
        </p:nvSpPr>
        <p:spPr>
          <a:xfrm>
            <a:off x="6126480" y="1828800"/>
            <a:ext cx="25603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階段 3: 擴展新策略領域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第一階段：剔除 (Strip Out Legacy) - 主要行動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18288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77724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34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● 透過釐清優先順序，定義策略重點。</a:t>
            </a:r>
            <a:endParaRPr lang="en-US" sz="2000" dirty="0"/>
          </a:p>
          <a:p>
            <a:pPr marL="0" indent="0">
              <a:lnSpc>
                <a:spcPts val="34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● 根據自動化準備度建立路線圖。</a:t>
            </a:r>
            <a:endParaRPr lang="en-US" sz="2000" dirty="0"/>
          </a:p>
          <a:p>
            <a:pPr marL="0" indent="0">
              <a:lnSpc>
                <a:spcPts val="34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● 實施「停止行動」清單以界定 AI 與人力的邊界。</a:t>
            </a:r>
            <a:endParaRPr lang="en-US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34957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第一階段：剔除 (Strip Out Legacy) - 成功衡量標準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18288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77724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3400"/>
              </a:lnSpc>
              <a:buNone/>
            </a:pPr>
            <a:r>
              <a:rPr lang="en-US" sz="2000" dirty="0">
                <a:solidFill>
                  <a:srgbClr val="0596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📊 從特定任務（如入職清單、報告）中回收的工時。</a:t>
            </a:r>
            <a:endParaRPr lang="en-US" sz="2000" dirty="0"/>
          </a:p>
          <a:p>
            <a:pPr marL="0" indent="0">
              <a:lnSpc>
                <a:spcPts val="3400"/>
              </a:lnSpc>
              <a:buNone/>
            </a:pPr>
            <a:r>
              <a:rPr lang="en-US" sz="2000" dirty="0">
                <a:solidFill>
                  <a:srgbClr val="0596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📊 重新分配至策略優先事項（如繼任計畫）的時間百分比。</a:t>
            </a:r>
            <a:endParaRPr lang="en-US" sz="2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第二階段：強化 (Augment Core) - 主要行動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18288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77724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34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● 更新職能模型，確保「AI 準備度」可見。</a:t>
            </a:r>
            <a:endParaRPr lang="en-US" sz="2000" dirty="0"/>
          </a:p>
          <a:p>
            <a:pPr marL="0" indent="0">
              <a:lnSpc>
                <a:spcPts val="34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● 利用 AI 生成的洞察作為領導對話的基準。</a:t>
            </a:r>
            <a:endParaRPr lang="en-US" sz="2000" dirty="0"/>
          </a:p>
          <a:p>
            <a:pPr marL="0" indent="0">
              <a:lnSpc>
                <a:spcPts val="34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● 定義 HRBP-CoE-AI 工作流程以避免重疊。</a:t>
            </a:r>
            <a:endParaRPr lang="en-US" sz="2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第二階段：強化 (Augment Core) - 成功衡量標準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18288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77724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3400"/>
              </a:lnSpc>
              <a:buNone/>
            </a:pPr>
            <a:r>
              <a:rPr lang="en-US" sz="2000" dirty="0">
                <a:solidFill>
                  <a:srgbClr val="0596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📊 人力/繼任決策的週期時間大幅縮短。</a:t>
            </a:r>
            <a:endParaRPr lang="en-US" sz="2000" dirty="0"/>
          </a:p>
          <a:p>
            <a:pPr marL="0" indent="0">
              <a:lnSpc>
                <a:spcPts val="3400"/>
              </a:lnSpc>
              <a:buNone/>
            </a:pPr>
            <a:r>
              <a:rPr lang="en-US" sz="2000" dirty="0">
                <a:solidFill>
                  <a:srgbClr val="0596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📊 18 個月內準備好擔任關鍵職位的繼任者百分比增加。</a:t>
            </a:r>
            <a:endParaRPr lang="en-US" sz="2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第三階段：擴展 (Expand New) - 主要行動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18288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77724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34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● 啟動與試行「策略人才領袖 (STL)」小組。</a:t>
            </a:r>
            <a:endParaRPr lang="en-US" sz="2000" dirty="0"/>
          </a:p>
          <a:p>
            <a:pPr marL="0" indent="0">
              <a:lnSpc>
                <a:spcPts val="34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● 在轉型決策中嵌入 STL 條款，確保人力洞察具法律約束力。</a:t>
            </a:r>
            <a:endParaRPr lang="en-US" sz="2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第三階段：擴展 (Expand New) - 成功衡量標準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18288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77724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3400"/>
              </a:lnSpc>
              <a:buNone/>
            </a:pPr>
            <a:r>
              <a:rPr lang="en-US" sz="2000" dirty="0">
                <a:solidFill>
                  <a:srgbClr val="0596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📊 因 AI 重新設計而被重新部署（而非裁員）的角色比例。</a:t>
            </a:r>
            <a:endParaRPr lang="en-US" sz="2000" dirty="0"/>
          </a:p>
          <a:p>
            <a:pPr marL="0" indent="0">
              <a:lnSpc>
                <a:spcPts val="3400"/>
              </a:lnSpc>
              <a:buNone/>
            </a:pPr>
            <a:r>
              <a:rPr lang="en-US" sz="2000" dirty="0">
                <a:solidFill>
                  <a:srgbClr val="0596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📊 AI 識別出的高風險職位流失率降低。</a:t>
            </a:r>
            <a:endParaRPr lang="en-US" sz="2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Gartner 建議：HR 專門手冊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18288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68580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32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1. 增強 HR 專業知識：保持對 AI 趨勢的最新洞察。</a:t>
            </a:r>
            <a:endParaRPr lang="en-US" sz="2000" dirty="0"/>
          </a:p>
          <a:p>
            <a:pPr marL="0" indent="0">
              <a:lnSpc>
                <a:spcPts val="32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2. 識別開發機會：基於勝任力模型與診斷工具。</a:t>
            </a:r>
            <a:endParaRPr lang="en-US" sz="2000" dirty="0"/>
          </a:p>
          <a:p>
            <a:pPr marL="0" indent="0">
              <a:lnSpc>
                <a:spcPts val="32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3. 加速項目執行：使用最佳實務指南與手冊。</a:t>
            </a:r>
            <a:endParaRPr lang="en-US" sz="2000" dirty="0"/>
          </a:p>
          <a:p>
            <a:pPr marL="0" indent="0">
              <a:lnSpc>
                <a:spcPts val="32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4. 數據驅動決策：利用 DataHub 數據進行同業標竿對比。</a:t>
            </a:r>
            <a:endParaRPr lang="en-US" sz="2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hape 12"/>
          <p:cNvSpPr/>
          <p:nvPr/>
        </p:nvSpPr>
        <p:spPr>
          <a:xfrm>
            <a:off x="2057400" y="2560320"/>
            <a:ext cx="2514600" cy="18288"/>
          </a:xfrm>
          <a:prstGeom prst="rect">
            <a:avLst/>
          </a:prstGeom>
          <a:solidFill>
            <a:srgbClr val="CBD5E1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8" name="Shape 16"/>
          <p:cNvSpPr/>
          <p:nvPr/>
        </p:nvSpPr>
        <p:spPr>
          <a:xfrm>
            <a:off x="4572000" y="2560320"/>
            <a:ext cx="2514600" cy="18288"/>
          </a:xfrm>
          <a:prstGeom prst="rect">
            <a:avLst/>
          </a:prstGeom>
          <a:solidFill>
            <a:srgbClr val="CBD5E1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全課精華：HRBP 轉型心智圖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18288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6" name="Shape 4"/>
          <p:cNvSpPr/>
          <p:nvPr/>
        </p:nvSpPr>
        <p:spPr>
          <a:xfrm>
            <a:off x="2057400" y="2560320"/>
            <a:ext cx="2514600" cy="18288"/>
          </a:xfrm>
          <a:prstGeom prst="rect">
            <a:avLst/>
          </a:prstGeom>
          <a:solidFill>
            <a:srgbClr val="CBD5E1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7" name="Shape 5"/>
          <p:cNvSpPr/>
          <p:nvPr/>
        </p:nvSpPr>
        <p:spPr>
          <a:xfrm>
            <a:off x="2057400" y="1325880"/>
            <a:ext cx="18288" cy="1234440"/>
          </a:xfrm>
          <a:prstGeom prst="rect">
            <a:avLst/>
          </a:prstGeom>
          <a:solidFill>
            <a:srgbClr val="CBD5E1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8" name="Shape 6"/>
          <p:cNvSpPr/>
          <p:nvPr/>
        </p:nvSpPr>
        <p:spPr>
          <a:xfrm>
            <a:off x="1371600" y="1097280"/>
            <a:ext cx="1645920" cy="548640"/>
          </a:xfrm>
          <a:prstGeom prst="roundRect">
            <a:avLst>
              <a:gd name="adj" fmla="val 16667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9" name="Text 7"/>
          <p:cNvSpPr/>
          <p:nvPr/>
        </p:nvSpPr>
        <p:spPr>
          <a:xfrm>
            <a:off x="1371600" y="109728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1.現狀與挑戰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0" y="2560320"/>
            <a:ext cx="2514600" cy="18288"/>
          </a:xfrm>
          <a:prstGeom prst="rect">
            <a:avLst/>
          </a:prstGeom>
          <a:solidFill>
            <a:srgbClr val="CBD5E1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1" name="Shape 9"/>
          <p:cNvSpPr/>
          <p:nvPr/>
        </p:nvSpPr>
        <p:spPr>
          <a:xfrm>
            <a:off x="7086600" y="1325880"/>
            <a:ext cx="18288" cy="1234440"/>
          </a:xfrm>
          <a:prstGeom prst="rect">
            <a:avLst/>
          </a:prstGeom>
          <a:solidFill>
            <a:srgbClr val="CBD5E1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2" name="Shape 10"/>
          <p:cNvSpPr/>
          <p:nvPr/>
        </p:nvSpPr>
        <p:spPr>
          <a:xfrm>
            <a:off x="6400800" y="1097280"/>
            <a:ext cx="1645920" cy="548640"/>
          </a:xfrm>
          <a:prstGeom prst="roundRect">
            <a:avLst>
              <a:gd name="adj" fmla="val 16667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3" name="Text 11"/>
          <p:cNvSpPr/>
          <p:nvPr/>
        </p:nvSpPr>
        <p:spPr>
          <a:xfrm>
            <a:off x="6400800" y="109728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2.STL新角色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057400" y="2560320"/>
            <a:ext cx="18288" cy="1691640"/>
          </a:xfrm>
          <a:prstGeom prst="rect">
            <a:avLst/>
          </a:prstGeom>
          <a:solidFill>
            <a:srgbClr val="CBD5E1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6" name="Shape 14"/>
          <p:cNvSpPr/>
          <p:nvPr/>
        </p:nvSpPr>
        <p:spPr>
          <a:xfrm>
            <a:off x="1371600" y="4023360"/>
            <a:ext cx="1645920" cy="548640"/>
          </a:xfrm>
          <a:prstGeom prst="roundRect">
            <a:avLst>
              <a:gd name="adj" fmla="val 16667"/>
            </a:avLst>
          </a:prstGeom>
          <a:solidFill>
            <a:srgbClr val="05966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7" name="Text 15"/>
          <p:cNvSpPr/>
          <p:nvPr/>
        </p:nvSpPr>
        <p:spPr>
          <a:xfrm>
            <a:off x="1371600" y="402336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3.三階段實作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086600" y="2560320"/>
            <a:ext cx="18288" cy="1691640"/>
          </a:xfrm>
          <a:prstGeom prst="rect">
            <a:avLst/>
          </a:prstGeom>
          <a:solidFill>
            <a:srgbClr val="CBD5E1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0" name="Shape 18"/>
          <p:cNvSpPr/>
          <p:nvPr/>
        </p:nvSpPr>
        <p:spPr>
          <a:xfrm>
            <a:off x="6400800" y="4023360"/>
            <a:ext cx="1645920" cy="548640"/>
          </a:xfrm>
          <a:prstGeom prst="roundRect">
            <a:avLst>
              <a:gd name="adj" fmla="val 16667"/>
            </a:avLst>
          </a:prstGeom>
          <a:solidFill>
            <a:srgbClr val="05966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1" name="Text 19"/>
          <p:cNvSpPr/>
          <p:nvPr/>
        </p:nvSpPr>
        <p:spPr>
          <a:xfrm>
            <a:off x="6400800" y="402336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4.成功指標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657600" y="2220630"/>
            <a:ext cx="1828800" cy="731520"/>
          </a:xfrm>
          <a:prstGeom prst="roundRect">
            <a:avLst>
              <a:gd name="adj" fmla="val 12500"/>
            </a:avLst>
          </a:prstGeom>
          <a:solidFill>
            <a:srgbClr val="0F172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3675888" y="219456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HRBP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轉型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10312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Ready for the Future?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0" y="27432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2563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HRBP 轉型實務 - 成果交付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383</Words>
  <Application>Microsoft Office PowerPoint</Application>
  <PresentationFormat>如螢幕大小 (16:9)</PresentationFormat>
  <Paragraphs>70</Paragraphs>
  <Slides>16</Slides>
  <Notes>16</Notes>
  <HiddenSlides>0</HiddenSlides>
  <MMClips>0</MMClips>
  <ScaleCrop>false</ScaleCrop>
  <HeadingPairs>
    <vt:vector size="6" baseType="variant">
      <vt:variant>
        <vt:lpstr>使用字型</vt:lpstr>
      </vt:variant>
      <vt:variant>
        <vt:i4>2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16</vt:i4>
      </vt:variant>
    </vt:vector>
  </HeadingPairs>
  <TitlesOfParts>
    <vt:vector size="19" baseType="lpstr">
      <vt:lpstr>Microsoft JhengHei</vt:lpstr>
      <vt:lpstr>Arial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時代重新設計 HRBP 角色的最佳實務</dc:title>
  <dc:subject>PptxGenJS Presentation</dc:subject>
  <dc:creator>Antigravity AI</dc:creator>
  <cp:lastModifiedBy>Evan Chen</cp:lastModifiedBy>
  <cp:revision>2</cp:revision>
  <dcterms:created xsi:type="dcterms:W3CDTF">2026-03-10T15:31:41Z</dcterms:created>
  <dcterms:modified xsi:type="dcterms:W3CDTF">2026-03-10T15:36:59Z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efa4170-0d19-0005-0004-bc88714345d2_Enabled">
    <vt:lpwstr>true</vt:lpwstr>
  </property>
  <property fmtid="{D5CDD505-2E9C-101B-9397-08002B2CF9AE}" pid="3" name="MSIP_Label_defa4170-0d19-0005-0004-bc88714345d2_SetDate">
    <vt:lpwstr>2026-03-10T15:36:57Z</vt:lpwstr>
  </property>
  <property fmtid="{D5CDD505-2E9C-101B-9397-08002B2CF9AE}" pid="4" name="MSIP_Label_defa4170-0d19-0005-0004-bc88714345d2_Method">
    <vt:lpwstr>Standard</vt:lpwstr>
  </property>
  <property fmtid="{D5CDD505-2E9C-101B-9397-08002B2CF9AE}" pid="5" name="MSIP_Label_defa4170-0d19-0005-0004-bc88714345d2_Name">
    <vt:lpwstr>defa4170-0d19-0005-0004-bc88714345d2</vt:lpwstr>
  </property>
  <property fmtid="{D5CDD505-2E9C-101B-9397-08002B2CF9AE}" pid="6" name="MSIP_Label_defa4170-0d19-0005-0004-bc88714345d2_SiteId">
    <vt:lpwstr>32ea9a8f-4ae2-43dc-8e04-a05b092589b7</vt:lpwstr>
  </property>
  <property fmtid="{D5CDD505-2E9C-101B-9397-08002B2CF9AE}" pid="7" name="MSIP_Label_defa4170-0d19-0005-0004-bc88714345d2_ActionId">
    <vt:lpwstr>91bc5767-8564-4fa3-9626-05b83999bb30</vt:lpwstr>
  </property>
  <property fmtid="{D5CDD505-2E9C-101B-9397-08002B2CF9AE}" pid="8" name="MSIP_Label_defa4170-0d19-0005-0004-bc88714345d2_ContentBits">
    <vt:lpwstr>0</vt:lpwstr>
  </property>
  <property fmtid="{D5CDD505-2E9C-101B-9397-08002B2CF9AE}" pid="9" name="MSIP_Label_defa4170-0d19-0005-0004-bc88714345d2_Tag">
    <vt:lpwstr>10, 3, 0, 1</vt:lpwstr>
  </property>
</Properties>
</file>